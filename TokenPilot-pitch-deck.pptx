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ab882775214c9b" /><Relationship Type="http://schemas.openxmlformats.org/officeDocument/2006/relationships/extended-properties" Target="/docProps/app.xml" Id="Rf477842819544d3c" /><Relationship Type="http://schemas.openxmlformats.org/officeDocument/2006/relationships/officeDocument" Target="/ppt/presentation.xml" Id="R41ebedeabb9c45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b679039c614b6b"/>
  </p:sldMasterIdLst>
  <p:notesMasterIdLst>
    <p:notesMasterId xmlns:r="http://schemas.openxmlformats.org/officeDocument/2006/relationships" r:id="R942cbd0bf9c943b1"/>
  </p:notesMasterIdLst>
  <p:sldIdLst>
    <p:sldId xmlns:r="http://schemas.openxmlformats.org/officeDocument/2006/relationships" id="256" r:id="Reaea49c79b8b453e"/>
    <p:sldId xmlns:r="http://schemas.openxmlformats.org/officeDocument/2006/relationships" id="257" r:id="Rac6979ec4dff480b"/>
    <p:sldId xmlns:r="http://schemas.openxmlformats.org/officeDocument/2006/relationships" id="258" r:id="R88ef1922ba9c4674"/>
    <p:sldId xmlns:r="http://schemas.openxmlformats.org/officeDocument/2006/relationships" id="259" r:id="Rdfc4f32deb1a4805"/>
    <p:sldId xmlns:r="http://schemas.openxmlformats.org/officeDocument/2006/relationships" id="260" r:id="R8c4cd69685374f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fad2d0866c42e4" /><Relationship Type="http://schemas.openxmlformats.org/officeDocument/2006/relationships/slideMaster" Target="/ppt/slideMasters/slideMaster1.xml" Id="R4fb679039c614b6b" /><Relationship Type="http://schemas.openxmlformats.org/officeDocument/2006/relationships/notesMaster" Target="/ppt/notesMasters/notesMaster1.xml" Id="R942cbd0bf9c943b1" /><Relationship Type="http://schemas.openxmlformats.org/officeDocument/2006/relationships/presProps" Target="/ppt/presProps.xml" Id="R83859cb268ad45bf" /><Relationship Type="http://schemas.openxmlformats.org/officeDocument/2006/relationships/tableStyles" Target="/ppt/tableStyles.xml" Id="R33abe6fa0a3a48ed" /><Relationship Type="http://schemas.openxmlformats.org/officeDocument/2006/relationships/slide" Target="/ppt/slides/slide1.xml" Id="Reaea49c79b8b453e" /><Relationship Type="http://schemas.openxmlformats.org/officeDocument/2006/relationships/slide" Target="/ppt/slides/slide2.xml" Id="Rac6979ec4dff480b" /><Relationship Type="http://schemas.openxmlformats.org/officeDocument/2006/relationships/slide" Target="/ppt/slides/slide3.xml" Id="R88ef1922ba9c4674" /><Relationship Type="http://schemas.openxmlformats.org/officeDocument/2006/relationships/slide" Target="/ppt/slides/slide4.xml" Id="Rdfc4f32deb1a4805" /><Relationship Type="http://schemas.openxmlformats.org/officeDocument/2006/relationships/slide" Target="/ppt/slides/slide5.xml" Id="R8c4cd69685374f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565c5e1fb146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726d9dd6d24ae0" /><Relationship Type="http://schemas.openxmlformats.org/officeDocument/2006/relationships/notesMaster" Target="/ppt/notesMasters/notesMaster1.xml" Id="R084be4517c5948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b8f94b033b4a98" /><Relationship Type="http://schemas.openxmlformats.org/officeDocument/2006/relationships/notesMaster" Target="/ppt/notesMasters/notesMaster1.xml" Id="Rc5946e5a53f94a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079fafb33347fa" /><Relationship Type="http://schemas.openxmlformats.org/officeDocument/2006/relationships/notesMaster" Target="/ppt/notesMasters/notesMaster1.xml" Id="Ra51452d4d92648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e7a764a6464a46" /><Relationship Type="http://schemas.openxmlformats.org/officeDocument/2006/relationships/notesMaster" Target="/ppt/notesMasters/notesMaster1.xml" Id="Rde0997453d1d43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a6d121e567446d" /><Relationship Type="http://schemas.openxmlformats.org/officeDocument/2006/relationships/notesMaster" Target="/ppt/notesMasters/notesMaster1.xml" Id="R1914c23703af45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61198cd4ba4c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4eef3fd7d0498f" /><Relationship Type="http://schemas.openxmlformats.org/officeDocument/2006/relationships/slideLayout" Target="/ppt/slideLayouts/slideLayout1.xml" Id="Ra3b74b6b9a1348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b74b6b9a1348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01b871d6a4ad6" /><Relationship Type="http://schemas.openxmlformats.org/officeDocument/2006/relationships/image" Target="/ppt/media/image.png" Id="R2c5f4cbdefad4e29" /><Relationship Type="http://schemas.openxmlformats.org/officeDocument/2006/relationships/notesSlide" Target="/ppt/notesSlides/notesSlide1.xml" Id="Rd249faf3b2e747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9d9e2cc434b3c" /><Relationship Type="http://schemas.openxmlformats.org/officeDocument/2006/relationships/notesSlide" Target="/ppt/notesSlides/notesSlide2.xml" Id="R1493189a3c564d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910b6ccca4b0a" /><Relationship Type="http://schemas.openxmlformats.org/officeDocument/2006/relationships/notesSlide" Target="/ppt/notesSlides/notesSlide3.xml" Id="R0f0a9c88f8e346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a68ada2d74631" /><Relationship Type="http://schemas.openxmlformats.org/officeDocument/2006/relationships/notesSlide" Target="/ppt/notesSlides/notesSlide4.xml" Id="Rbf0e7ef6a15d48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91274cd4440d4" /><Relationship Type="http://schemas.openxmlformats.org/officeDocument/2006/relationships/notesSlide" Target="/ppt/notesSlides/notesSlide5.xml" Id="R9a6edfc0154a46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5f4cbdefad4e2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7056D-0E77-4837-954E-71A5E242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D6D1"/>
                </a:solidFill>
              </a:defRPr>
            </a:pPr>
            <a:r>
              <a:rPr sz="1200" b="1">
                <a:solidFill>
                  <a:srgbClr val="6ED6D1"/>
                </a:solidFill>
              </a:rPr>
              <a:t>TOKENPILOT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17637-20E5-41A6-8C7F-4301A078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4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Adaptive Fireworks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Model Router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5CF8D-04DF-4A21-808C-7F05A1C3F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7D5DE"/>
                </a:solidFill>
              </a:defRPr>
            </a:pPr>
            <a:r>
              <a:rPr sz="1650" b="0">
                <a:solidFill>
                  <a:srgbClr val="C7D5DE"/>
                </a:solidFill>
              </a:rPr>
              <a:t>Accurate answers with fewer paid inference tokens.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E0FB8-09E4-416D-8233-8324C762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6B64A"/>
                </a:solidFill>
              </a:defRPr>
            </a:pPr>
            <a:r>
              <a:rPr sz="1125" b="1">
                <a:solidFill>
                  <a:srgbClr val="F6B64A"/>
                </a:solidFill>
              </a:rPr>
              <a:t>AMD Developer Hackathon · Track 1</a:t>
            </a:r>
          </a:p>
        </p:txBody>
      </p:sp>
    </p:spTree>
    <p:extLst>
      <p:ext uri="{BB962C8B-B14F-4D97-AF65-F5344CB8AC3E}">
        <p14:creationId xmlns:p14="http://schemas.microsoft.com/office/powerpoint/2010/main" val="2997624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1521FC-918C-4238-B3C1-51D4EE0F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D6D1"/>
                </a:solidFill>
              </a:defRPr>
            </a:pPr>
            <a:r>
              <a:rPr sz="975" b="1">
                <a:solidFill>
                  <a:srgbClr val="6ED6D1"/>
                </a:solidFill>
              </a:rPr>
              <a:t>TOKENPILOT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60A90-FD7F-42F0-8828-4B253943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58592"/>
                </a:solidFill>
              </a:defRPr>
            </a:pPr>
            <a:r>
              <a:rPr sz="975" b="0">
                <a:solidFill>
                  <a:srgbClr val="75859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9CF0C-9CCE-4762-8C14-FD22A561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Every task should use only as much model as it needs.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8BE39-40C6-477E-BB74-5F570545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95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7D1"/>
                </a:solidFill>
              </a:defRPr>
            </a:pPr>
            <a:r>
              <a:rPr sz="1500" b="0">
                <a:solidFill>
                  <a:srgbClr val="B8C7D1"/>
                </a:solidFill>
              </a:rPr>
              <a:t>Most requests do not need the most expensive model. TokenPilot makes that decision locally, then escalates only when the task requires more capability.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40FB8-ECEB-460E-84BA-EB62DB9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4D"/>
          </a:solidFill>
          <a:ln xmlns:a="http://schemas.openxmlformats.org/drawingml/2006/main" w="0">
            <a:solidFill>
              <a:srgbClr val="2A41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1EC54-CCC6-48D6-A61C-72A9404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ED6D1"/>
                </a:solidFill>
              </a:defRPr>
            </a:pPr>
            <a:r>
              <a:rPr sz="1500" b="1">
                <a:solidFill>
                  <a:srgbClr val="6ED6D1"/>
                </a:solidFill>
              </a:rPr>
              <a:t>The system balances three goals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8C6EA-AC10-49D5-B05F-21DEF84D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1F5F7"/>
                </a:solidFill>
              </a:defRPr>
            </a:pPr>
            <a:r>
              <a:rPr sz="1650" b="0">
                <a:solidFill>
                  <a:srgbClr val="F1F5F7"/>
                </a:solidFill>
              </a:rPr>
              <a:t>01  Preserve answer quality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1F5F7"/>
                </a:solidFill>
              </a:defRPr>
            </a:pPr>
            <a:r>
              <a:rPr sz="1650" b="0">
                <a:solidFill>
                  <a:srgbClr val="F1F5F7"/>
                </a:solidFill>
              </a:rPr>
              <a:t>02  Minimize paid tokens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F1F5F7"/>
                </a:solidFill>
              </a:defRPr>
            </a:pPr>
            <a:r>
              <a:rPr sz="1650" b="0">
                <a:solidFill>
                  <a:srgbClr val="F1F5F7"/>
                </a:solidFill>
              </a:rPr>
              <a:t>03  Stay compatible with the judging container</a:t>
            </a:r>
          </a:p>
        </p:txBody>
      </p:sp>
    </p:spTree>
    <p:extLst>
      <p:ext uri="{BB962C8B-B14F-4D97-AF65-F5344CB8AC3E}">
        <p14:creationId xmlns:p14="http://schemas.microsoft.com/office/powerpoint/2010/main" val="1286302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11BC0A-46BE-4960-B9BF-712B3527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D6D1"/>
                </a:solidFill>
              </a:defRPr>
            </a:pPr>
            <a:r>
              <a:rPr sz="975" b="1">
                <a:solidFill>
                  <a:srgbClr val="6ED6D1"/>
                </a:solidFill>
              </a:rPr>
              <a:t>TOKENPILOT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9E6F7-B6A6-4359-BFE0-E9AA098D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58592"/>
                </a:solidFill>
              </a:defRPr>
            </a:pPr>
            <a:r>
              <a:rPr sz="975" b="0">
                <a:solidFill>
                  <a:srgbClr val="758592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AA339-6F75-44C0-8082-83947CFF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 local decision controls the paid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C80D7-93AC-4108-A479-7F18395B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1"/>
                </a:solidFill>
              </a:defRPr>
            </a:pPr>
            <a:r>
              <a:rPr sz="1425" b="0">
                <a:solidFill>
                  <a:srgbClr val="B8C7D1"/>
                </a:solidFill>
              </a:rPr>
              <a:t>The router uses deterministic signals, confidence scoring, caching, and controlled escalation.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023FB-AE75-4FCC-A4D6-B2491FA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B64A"/>
                </a:solidFill>
              </a:defRPr>
            </a:pPr>
            <a:r>
              <a:rPr sz="2250" b="1">
                <a:solidFill>
                  <a:srgbClr val="F6B64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EB2C5-8C80-48AE-A4CE-6DF5B678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Classify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D5B40-994E-434A-94C1-10CDA81A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7D1"/>
                </a:solidFill>
              </a:defRPr>
            </a:pPr>
            <a:r>
              <a:rPr sz="1200" b="0">
                <a:solidFill>
                  <a:srgbClr val="B8C7D1"/>
                </a:solidFill>
              </a:rPr>
              <a:t>Recognize arithmetic, coding, proof, security, and systems signals.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DCF8B-664B-4E72-82FF-ABB1C5D1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05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C"/>
          </a:solidFill>
          <a:ln xmlns:a="http://schemas.openxmlformats.org/drawingml/2006/main" w="0">
            <a:solidFill>
              <a:srgbClr val="3850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0A44F-800E-4DE9-B002-C9F490FD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B64A"/>
                </a:solidFill>
              </a:defRPr>
            </a:pPr>
            <a:r>
              <a:rPr sz="2250" b="1">
                <a:solidFill>
                  <a:srgbClr val="F6B64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A7991-6EA6-4C82-9D8C-3F9A2AA8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352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9CB0C-24E8-4906-8081-8B9AFB4E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100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7D1"/>
                </a:solidFill>
              </a:defRPr>
            </a:pPr>
            <a:r>
              <a:rPr sz="1200" b="0">
                <a:solidFill>
                  <a:srgbClr val="B8C7D1"/>
                </a:solidFill>
              </a:rPr>
              <a:t>Use a deterministic local path or the cheapest allowed Fireworks tier.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EC04B-0F0B-452F-9F4F-FA20ED1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505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C"/>
          </a:solidFill>
          <a:ln xmlns:a="http://schemas.openxmlformats.org/drawingml/2006/main" w="0">
            <a:solidFill>
              <a:srgbClr val="3850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F986F-B952-4E53-811D-61C4ADEF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B64A"/>
                </a:solidFill>
              </a:defRPr>
            </a:pPr>
            <a:r>
              <a:rPr sz="2250" b="1">
                <a:solidFill>
                  <a:srgbClr val="F6B64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95F48E-652D-4588-87C3-9CC3A6E9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Judge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80297-1478-4A8F-9F13-84CC8593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100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7D1"/>
                </a:solidFill>
              </a:defRPr>
            </a:pPr>
            <a:r>
              <a:rPr sz="1200" b="0">
                <a:solidFill>
                  <a:srgbClr val="B8C7D1"/>
                </a:solidFill>
              </a:rPr>
              <a:t>Escalate when confidence is below the configured threshold.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BDCE1-2BCC-4FE5-B0AB-C0EF7D5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C"/>
          </a:solidFill>
          <a:ln xmlns:a="http://schemas.openxmlformats.org/drawingml/2006/main" w="0">
            <a:solidFill>
              <a:srgbClr val="3850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B43C1-6D23-4D66-8684-4EA8E291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6B64A"/>
                </a:solidFill>
              </a:defRPr>
            </a:pPr>
            <a:r>
              <a:rPr sz="2250" b="1">
                <a:solidFill>
                  <a:srgbClr val="F6B64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42923E-2502-4DBE-AE81-9DC64056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52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Cache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C9522-8947-4FDC-8438-781C2F9B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81000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7D1"/>
                </a:solidFill>
              </a:defRPr>
            </a:pPr>
            <a:r>
              <a:rPr sz="1200" b="0">
                <a:solidFill>
                  <a:srgbClr val="B8C7D1"/>
                </a:solidFill>
              </a:rPr>
              <a:t>Reuse completed work and preserve stable prompt prefixes.</a:t>
            </a:r>
          </a:p>
        </p:txBody>
      </p:sp>
    </p:spTree>
    <p:extLst>
      <p:ext uri="{BB962C8B-B14F-4D97-AF65-F5344CB8AC3E}">
        <p14:creationId xmlns:p14="http://schemas.microsoft.com/office/powerpoint/2010/main" val="2083679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D238B-40F7-4D35-9B7D-32C8E540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D6D1"/>
                </a:solidFill>
              </a:defRPr>
            </a:pPr>
            <a:r>
              <a:rPr sz="975" b="1">
                <a:solidFill>
                  <a:srgbClr val="6ED6D1"/>
                </a:solidFill>
              </a:rPr>
              <a:t>TOKENPILOT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4E97A-E7E3-4DF4-A5EE-215720B3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58592"/>
                </a:solidFill>
              </a:defRPr>
            </a:pPr>
            <a:r>
              <a:rPr sz="975" b="0">
                <a:solidFill>
                  <a:srgbClr val="758592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E6D85-D9A7-432D-B38A-209B686C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The benchmark favored the efficient tier.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6EF02-972F-4754-BB3B-FA12F821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1"/>
                </a:solidFill>
              </a:defRPr>
            </a:pPr>
            <a:r>
              <a:rPr sz="1425" b="0">
                <a:solidFill>
                  <a:srgbClr val="B8C7D1"/>
                </a:solidFill>
              </a:rPr>
              <a:t>On the live 83-task labeled benchmark, the cheaper model produced the strongest measured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95A2D-3FC3-46FB-8004-0A2BE1B8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D6D1"/>
                </a:solidFill>
              </a:defRPr>
            </a:pPr>
            <a:r>
              <a:rPr sz="1050" b="1">
                <a:solidFill>
                  <a:srgbClr val="6ED6D1"/>
                </a:solidFill>
              </a:rPr>
              <a:t>POLICY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3F616-5B02-4391-BEA0-D4A80DCD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D6D1"/>
                </a:solidFill>
              </a:defRPr>
            </a:pPr>
            <a:r>
              <a:rPr sz="1050" b="1">
                <a:solidFill>
                  <a:srgbClr val="6ED6D1"/>
                </a:solidFill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6FC8F-E400-4244-80E0-BAA0BA57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D6D1"/>
                </a:solidFill>
              </a:defRPr>
            </a:pPr>
            <a:r>
              <a:rPr sz="1050" b="1">
                <a:solidFill>
                  <a:srgbClr val="6ED6D1"/>
                </a:solidFill>
              </a:rPr>
              <a:t>ANSWER TOKENS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5E07E-39C7-4BC9-9E93-AED94A83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2"/>
          </a:solidFill>
          <a:ln xmlns:a="http://schemas.openxmlformats.org/drawingml/2006/main" w="0">
            <a:solidFill>
              <a:srgbClr val="2636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EF4998-5D68-4821-8A91-817CBD8F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Always cheap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D72BC-4D57-41A9-BF8A-F16ED577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5F7"/>
                </a:solidFill>
              </a:defRPr>
            </a:pPr>
            <a:r>
              <a:rPr sz="1575" b="1">
                <a:solidFill>
                  <a:srgbClr val="F1F5F7"/>
                </a:solidFill>
              </a:rPr>
              <a:t>97.6%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81E11-AD4E-416F-8628-C71BFA82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5F7"/>
                </a:solidFill>
              </a:defRPr>
            </a:pPr>
            <a:r>
              <a:rPr sz="1575" b="1">
                <a:solidFill>
                  <a:srgbClr val="F1F5F7"/>
                </a:solidFill>
              </a:rPr>
              <a:t>22,272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2D0AC-5B0B-4659-A36C-6E476CE7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2"/>
          </a:solidFill>
          <a:ln xmlns:a="http://schemas.openxmlformats.org/drawingml/2006/main" w="0">
            <a:solidFill>
              <a:srgbClr val="2636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04DA1-39F4-45D1-AF3F-6CA49130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Always expensive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45C0A-C88A-4B0D-A713-BCC5FEEA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5F7"/>
                </a:solidFill>
              </a:defRPr>
            </a:pPr>
            <a:r>
              <a:rPr sz="1575" b="1">
                <a:solidFill>
                  <a:srgbClr val="F1F5F7"/>
                </a:solidFill>
              </a:rPr>
              <a:t>94.0%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705B3-F9E5-4ADF-9F08-6B8A9A34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5F7"/>
                </a:solidFill>
              </a:defRPr>
            </a:pPr>
            <a:r>
              <a:rPr sz="1575" b="1">
                <a:solidFill>
                  <a:srgbClr val="F1F5F7"/>
                </a:solidFill>
              </a:rPr>
              <a:t>28,234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8B0CB-E339-439C-A386-43F0736C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D6D1"/>
          </a:solidFill>
          <a:ln xmlns:a="http://schemas.openxmlformats.org/drawingml/2006/main" w="0">
            <a:solidFill>
              <a:srgbClr val="6ED6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FD439-A1B7-4318-A3CC-73E1D8B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Current 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5AD81-2DD5-4FB2-A722-9C252039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ED6D1"/>
                </a:solidFill>
              </a:defRPr>
            </a:pPr>
            <a:r>
              <a:rPr sz="1575" b="1">
                <a:solidFill>
                  <a:srgbClr val="6ED6D1"/>
                </a:solidFill>
              </a:rPr>
              <a:t>96.4%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CCC38-F9BB-4523-8639-8CC3058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ED6D1"/>
                </a:solidFill>
              </a:defRPr>
            </a:pPr>
            <a:r>
              <a:rPr sz="1575" b="1">
                <a:solidFill>
                  <a:srgbClr val="6ED6D1"/>
                </a:solidFill>
              </a:rPr>
              <a:t>22,551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F1AD1A-61F3-4FDA-B704-F1B5868F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58592"/>
                </a:solidFill>
              </a:defRPr>
            </a:pPr>
            <a:r>
              <a:rPr sz="1050" b="0">
                <a:solidFill>
                  <a:srgbClr val="758592"/>
                </a:solidFill>
              </a:rPr>
              <a:t>Measured answer tokens; judge tokens are excluded from the submission path.</a:t>
            </a:r>
          </a:p>
        </p:txBody>
      </p:sp>
    </p:spTree>
    <p:extLst>
      <p:ext uri="{BB962C8B-B14F-4D97-AF65-F5344CB8AC3E}">
        <p14:creationId xmlns:p14="http://schemas.microsoft.com/office/powerpoint/2010/main" val="1698339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67C17-ACF6-4094-9CEF-53818ACF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D6D1"/>
                </a:solidFill>
              </a:defRPr>
            </a:pPr>
            <a:r>
              <a:rPr sz="975" b="1">
                <a:solidFill>
                  <a:srgbClr val="6ED6D1"/>
                </a:solidFill>
              </a:rPr>
              <a:t>TOKENPILOT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DA5C1-2FFB-4C6C-A2E0-08394211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58592"/>
                </a:solidFill>
              </a:defRPr>
            </a:pPr>
            <a:r>
              <a:rPr sz="975" b="0">
                <a:solidFill>
                  <a:srgbClr val="758592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A5DE3-7A33-4711-B4B6-E71428E9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Ready for the standardized container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E5DD3B-442C-4294-AC0C-48B87D4E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8C7D1"/>
                </a:solidFill>
              </a:defRPr>
            </a:pPr>
            <a:r>
              <a:rPr sz="1425" b="0">
                <a:solidFill>
                  <a:srgbClr val="B8C7D1"/>
                </a:solidFill>
              </a:rPr>
              <a:t>TokenPilot is packaged for repeatable evaluation and runtime-provided credentials.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D7EC0-BB94-45CC-955E-A032E2C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D6D1"/>
                </a:solidFill>
              </a:defRPr>
            </a:pPr>
            <a:r>
              <a:rPr sz="1050" b="1">
                <a:solidFill>
                  <a:srgbClr val="6ED6D1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23FB4-BEAD-4925-8164-1E71A80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/input/tasks.json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A23FC-0E55-45E6-AA74-D94AE28C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B64A"/>
                </a:solidFill>
              </a:defRPr>
            </a:pPr>
            <a:r>
              <a:rPr sz="1050" b="1">
                <a:solidFill>
                  <a:srgbClr val="F6B64A"/>
                </a:solidFill>
              </a:rPr>
              <a:t>ROUTER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772FF-DB0A-40E4-8173-62834555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Local decision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+ Fireworks fallback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D7A8D4-B223-4368-92AF-C057B60D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ED6D1"/>
                </a:solidFill>
              </a:defRPr>
            </a:pPr>
            <a:r>
              <a:rPr sz="1050" b="1">
                <a:solidFill>
                  <a:srgbClr val="6ED6D1"/>
                </a:solidFill>
              </a:rPr>
              <a:t>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4CD58-6748-4559-AF56-333F100B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/output/results.json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3EC78-3B66-4686-94F4-53B69F9D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7662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C"/>
          </a:solidFill>
          <a:ln xmlns:a="http://schemas.openxmlformats.org/drawingml/2006/main" w="0">
            <a:solidFill>
              <a:srgbClr val="3850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B245E-7B03-4807-B05B-92129AC7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05C"/>
          </a:solidFill>
          <a:ln xmlns:a="http://schemas.openxmlformats.org/drawingml/2006/main" w="0">
            <a:solidFill>
              <a:srgbClr val="3850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50C08-D15A-4922-8F73-B625C807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7D1"/>
                </a:solidFill>
              </a:defRPr>
            </a:pPr>
            <a:r>
              <a:rPr sz="1200" b="0">
                <a:solidFill>
                  <a:srgbClr val="B8C7D1"/>
                </a:solidFill>
              </a:rPr>
              <a:t>Runtime configuration: FIREWORKS_API_KEY · FIREWORKS_BASE_URL · ALLOWED_MODELS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51A86-C675-4DCA-83C1-07401E1E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ED6D1"/>
                </a:solidFill>
              </a:defRPr>
            </a:pPr>
            <a:r>
              <a:rPr sz="1200" b="1">
                <a:solidFill>
                  <a:srgbClr val="6ED6D1"/>
                </a:solidFill>
              </a:rPr>
              <a:t>TokenPilot: Adaptive Fireworks Model Router</a:t>
            </a:r>
          </a:p>
        </p:txBody>
      </p:sp>
    </p:spTree>
    <p:extLst>
      <p:ext uri="{BB962C8B-B14F-4D97-AF65-F5344CB8AC3E}">
        <p14:creationId xmlns:p14="http://schemas.microsoft.com/office/powerpoint/2010/main" val="1096539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2026-07-09T22:38:35.6380000Z</dcterms:created>
  <dcterms:modified xsi:type="dcterms:W3CDTF">2026-07-09T22:38:35.6380000Z</dcterms:modified>
</coreProperties>
</file>